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Prophet by PDM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See What's Coming Before It Arrives</a:t>
            </a:r>
          </a:p>
          <a:p>
            <a:r>
              <a:rPr sz="2000">
                <a:solidFill>
                  <a:srgbClr val="FFFFFF"/>
                </a:solidFill>
              </a:rPr>
              <a:t>AI Intelligence for Every Client Conversation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The Reality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Managing 50+ clients simultaneously</a:t>
            </a:r>
          </a:p>
          <a:p>
            <a:r>
              <a:rPr sz="2000">
                <a:solidFill>
                  <a:srgbClr val="FFFFFF"/>
                </a:solidFill>
              </a:rPr>
              <a:t>Signals buried across systems</a:t>
            </a:r>
          </a:p>
          <a:p>
            <a:r>
              <a:rPr sz="2000">
                <a:solidFill>
                  <a:srgbClr val="FFFFFF"/>
                </a:solidFill>
              </a:rPr>
              <a:t>Refunds, churn, competitors — missed too late</a:t>
            </a:r>
          </a:p>
          <a:p>
            <a:r>
              <a:rPr sz="2000">
                <a:solidFill>
                  <a:srgbClr val="FFFFFF"/>
                </a:solidFill>
              </a:rPr>
              <a:t>You're not lacking effort — you're lacking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The Cost of Missing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2-year avg → 35.7% churn</a:t>
            </a:r>
          </a:p>
          <a:p>
            <a:r>
              <a:rPr sz="2000">
                <a:solidFill>
                  <a:srgbClr val="FFFFFF"/>
                </a:solidFill>
              </a:rPr>
              <a:t>8-year target → 12.5%</a:t>
            </a:r>
          </a:p>
          <a:p>
            <a:r>
              <a:rPr sz="2000">
                <a:solidFill>
                  <a:srgbClr val="FFFFFF"/>
                </a:solidFill>
              </a:rPr>
              <a:t>$4M+ revenue protected</a:t>
            </a:r>
          </a:p>
          <a:p>
            <a:r>
              <a:rPr sz="2000">
                <a:solidFill>
                  <a:srgbClr val="FFFFFF"/>
                </a:solidFill>
              </a:rPr>
              <a:t>Every missed signal = lost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The Real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You can't act on what you can't see</a:t>
            </a:r>
          </a:p>
          <a:p>
            <a:r>
              <a:rPr sz="2000">
                <a:solidFill>
                  <a:srgbClr val="FFFFFF"/>
                </a:solidFill>
              </a:rPr>
              <a:t>AMs are operating blind</a:t>
            </a:r>
          </a:p>
          <a:p>
            <a:r>
              <a:rPr sz="2000">
                <a:solidFill>
                  <a:srgbClr val="FFFFFF"/>
                </a:solidFill>
              </a:rPr>
              <a:t>Prophet gives you real-time visibility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What Is Prophet?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AI platform connected to Salesforce</a:t>
            </a:r>
          </a:p>
          <a:p>
            <a:r>
              <a:rPr sz="2000">
                <a:solidFill>
                  <a:srgbClr val="FFFFFF"/>
                </a:solidFill>
              </a:rPr>
              <a:t>Ask questions in plain English</a:t>
            </a:r>
          </a:p>
          <a:p>
            <a:r>
              <a:rPr sz="2000">
                <a:solidFill>
                  <a:srgbClr val="FFFFFF"/>
                </a:solidFill>
              </a:rPr>
              <a:t>Instant intelligence, no digging</a:t>
            </a:r>
          </a:p>
          <a:p>
            <a:r>
              <a:rPr sz="2000">
                <a:solidFill>
                  <a:srgbClr val="FFFFFF"/>
                </a:solidFill>
              </a:rPr>
              <a:t>No reports. No guessing.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How Prophet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[DIAGRAM: User → Claude → Prophet → Salesforce → AI → Insight → Action]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Before vs After Prophet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Before: 30–45 min prep per call</a:t>
            </a:r>
          </a:p>
          <a:p>
            <a:r>
              <a:rPr sz="2000">
                <a:solidFill>
                  <a:srgbClr val="FFFFFF"/>
                </a:solidFill>
              </a:rPr>
              <a:t>After: 30 seconds — 'Brief me on this account'</a:t>
            </a:r>
          </a:p>
          <a:p>
            <a:r>
              <a:rPr sz="2000">
                <a:solidFill>
                  <a:srgbClr val="FFFFFF"/>
                </a:solidFill>
              </a:rPr>
              <a:t>Before: reactive</a:t>
            </a:r>
          </a:p>
          <a:p>
            <a:r>
              <a:rPr sz="2000">
                <a:solidFill>
                  <a:srgbClr val="FFFFFF"/>
                </a:solidFill>
              </a:rPr>
              <a:t>After: proactive and informed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What Prophet Covers (18 Tools)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[DIAGRAM: 6-category intelligence map]</a:t>
            </a:r>
          </a:p>
          <a:p>
            <a:r>
              <a:rPr sz="2000">
                <a:solidFill>
                  <a:srgbClr val="FFFFFF"/>
                </a:solidFill>
              </a:rPr>
              <a:t>Account Management (3)</a:t>
            </a:r>
          </a:p>
          <a:p>
            <a:r>
              <a:rPr sz="2000">
                <a:solidFill>
                  <a:srgbClr val="FFFFFF"/>
                </a:solidFill>
              </a:rPr>
              <a:t>Health &amp; Risk (3)</a:t>
            </a:r>
          </a:p>
          <a:p>
            <a:r>
              <a:rPr sz="2000">
                <a:solidFill>
                  <a:srgbClr val="FFFFFF"/>
                </a:solidFill>
              </a:rPr>
              <a:t>Pipeline (2)</a:t>
            </a:r>
          </a:p>
          <a:p>
            <a:r>
              <a:rPr sz="2000">
                <a:solidFill>
                  <a:srgbClr val="FFFFFF"/>
                </a:solidFill>
              </a:rPr>
              <a:t>Sales Intelligence (6)</a:t>
            </a:r>
          </a:p>
          <a:p>
            <a:r>
              <a:rPr sz="2000">
                <a:solidFill>
                  <a:srgbClr val="FFFFFF"/>
                </a:solidFill>
              </a:rPr>
              <a:t>Conversation (1) + Competitive (2)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Account Management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sf_get_weekly_synopsis → 'Show me my week'</a:t>
            </a:r>
          </a:p>
          <a:p>
            <a:r>
              <a:rPr sz="2000">
                <a:solidFill>
                  <a:srgbClr val="FFFFFF"/>
                </a:solidFill>
              </a:rPr>
              <a:t>sf_get_pre_call_brief → 'Brief me on [account]'</a:t>
            </a:r>
          </a:p>
          <a:p>
            <a:r>
              <a:rPr sz="2000">
                <a:solidFill>
                  <a:srgbClr val="FFFFFF"/>
                </a:solidFill>
              </a:rPr>
              <a:t>sf_log_account_note → 'Log a note on [account]'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Health &amp; Risk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sf_get_account_health_report</a:t>
            </a:r>
          </a:p>
          <a:p>
            <a:r>
              <a:rPr sz="2000">
                <a:solidFill>
                  <a:srgbClr val="FFFFFF"/>
                </a:solidFill>
              </a:rPr>
              <a:t>sf_get_churn_risk_accounts</a:t>
            </a:r>
          </a:p>
          <a:p>
            <a:r>
              <a:rPr sz="2000">
                <a:solidFill>
                  <a:srgbClr val="FFFFFF"/>
                </a:solidFill>
              </a:rPr>
              <a:t>sf_run_nightly_health_scan</a:t>
            </a:r>
          </a:p>
          <a:p>
            <a:r>
              <a:rPr sz="2000">
                <a:solidFill>
                  <a:srgbClr val="FFFFFF"/>
                </a:solidFill>
              </a:rPr>
              <a:t>[VISUAL: Health Score Gauge]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Pipeline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sf_get_renewal_pipeline</a:t>
            </a:r>
          </a:p>
          <a:p>
            <a:r>
              <a:rPr sz="2000">
                <a:solidFill>
                  <a:srgbClr val="FFFFFF"/>
                </a:solidFill>
              </a:rPr>
              <a:t>sf_get_upsell_opportunities</a:t>
            </a:r>
          </a:p>
          <a:p>
            <a:r>
              <a:rPr sz="2000">
                <a:solidFill>
                  <a:srgbClr val="FFFFFF"/>
                </a:solidFill>
              </a:rPr>
              <a:t>Renewals tracked without Opportunities</a:t>
            </a:r>
          </a:p>
          <a:p>
            <a:r>
              <a:rPr sz="2000">
                <a:solidFill>
                  <a:srgbClr val="FFFFFF"/>
                </a:solidFill>
              </a:rPr>
              <a:t>Gap analysis = revenue growth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Sales Intelligence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sf_research_prospect → 'Research [practice]'</a:t>
            </a:r>
          </a:p>
          <a:p>
            <a:r>
              <a:rPr sz="2000">
                <a:solidFill>
                  <a:srgbClr val="FFFFFF"/>
                </a:solidFill>
              </a:rPr>
              <a:t>sf_get_lead_intelligence</a:t>
            </a:r>
          </a:p>
          <a:p>
            <a:r>
              <a:rPr sz="2000">
                <a:solidFill>
                  <a:srgbClr val="FFFFFF"/>
                </a:solidFill>
              </a:rPr>
              <a:t>sf_get_rep_pipeline_synopsis</a:t>
            </a:r>
          </a:p>
          <a:p>
            <a:r>
              <a:rPr sz="2000">
                <a:solidFill>
                  <a:srgbClr val="FFFFFF"/>
                </a:solidFill>
              </a:rPr>
              <a:t>[DIAGRAM: Research → Scores → Deck]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Competitive &amp; Conversation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sf_get_competitive_alerts</a:t>
            </a:r>
          </a:p>
          <a:p>
            <a:r>
              <a:rPr sz="2000">
                <a:solidFill>
                  <a:srgbClr val="FFFFFF"/>
                </a:solidFill>
              </a:rPr>
              <a:t>sf_get_renewal_proof_package</a:t>
            </a:r>
          </a:p>
          <a:p>
            <a:r>
              <a:rPr sz="2000">
                <a:solidFill>
                  <a:srgbClr val="FFFFFF"/>
                </a:solidFill>
              </a:rPr>
              <a:t>sf_get_call_intelligence</a:t>
            </a:r>
          </a:p>
          <a:p>
            <a:r>
              <a:rPr sz="2000">
                <a:solidFill>
                  <a:srgbClr val="FFFFFF"/>
                </a:solidFill>
              </a:rPr>
              <a:t>Quarterly competitor tracking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Scenario: Before a Client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'Brief me on One Solution Dental'</a:t>
            </a:r>
          </a:p>
          <a:p>
            <a:r>
              <a:rPr sz="2000">
                <a:solidFill>
                  <a:srgbClr val="FFFFFF"/>
                </a:solidFill>
              </a:rPr>
              <a:t>Health dropping, refund open</a:t>
            </a:r>
          </a:p>
          <a:p>
            <a:r>
              <a:rPr sz="2000">
                <a:solidFill>
                  <a:srgbClr val="FFFFFF"/>
                </a:solidFill>
              </a:rPr>
              <a:t>Doctor not contacted in 90+ days</a:t>
            </a:r>
          </a:p>
          <a:p>
            <a:r>
              <a:rPr sz="2000">
                <a:solidFill>
                  <a:srgbClr val="FFFFFF"/>
                </a:solidFill>
              </a:rPr>
              <a:t>[SCREENSHOT PLACEHOLDER]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Scenario: Churn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'Show me churn risk'</a:t>
            </a:r>
          </a:p>
          <a:p>
            <a:r>
              <a:rPr sz="2000">
                <a:solidFill>
                  <a:srgbClr val="FFFFFF"/>
                </a:solidFill>
              </a:rPr>
              <a:t>Accounts ranked by urgency</a:t>
            </a:r>
          </a:p>
          <a:p>
            <a:r>
              <a:rPr sz="2000">
                <a:solidFill>
                  <a:srgbClr val="FFFFFF"/>
                </a:solidFill>
              </a:rPr>
              <a:t>Revenue at risk visible</a:t>
            </a:r>
          </a:p>
          <a:p>
            <a:r>
              <a:rPr sz="2000">
                <a:solidFill>
                  <a:srgbClr val="FFFFFF"/>
                </a:solidFill>
              </a:rPr>
              <a:t>[SCREENSHOT PLACEHOLDER]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Scenario: Prospect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'Research Smile Design Studio'</a:t>
            </a:r>
          </a:p>
          <a:p>
            <a:r>
              <a:rPr sz="2000">
                <a:solidFill>
                  <a:srgbClr val="FFFFFF"/>
                </a:solidFill>
              </a:rPr>
              <a:t>Market + competitor + scores</a:t>
            </a:r>
          </a:p>
          <a:p>
            <a:r>
              <a:rPr sz="2000">
                <a:solidFill>
                  <a:srgbClr val="FFFFFF"/>
                </a:solidFill>
              </a:rPr>
              <a:t>Deck auto-generated</a:t>
            </a:r>
          </a:p>
          <a:p>
            <a:r>
              <a:rPr sz="2000">
                <a:solidFill>
                  <a:srgbClr val="FFFFFF"/>
                </a:solidFill>
              </a:rPr>
              <a:t>[SCREENSHOT PLACEHOLDER]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The Competitive Intelligence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[TABLE: Competitor vs Client Gap Mapping]</a:t>
            </a:r>
          </a:p>
          <a:p>
            <a:r>
              <a:rPr sz="2000">
                <a:solidFill>
                  <a:srgbClr val="FFFFFF"/>
                </a:solidFill>
              </a:rPr>
              <a:t>Every competitor signal → PDM product</a:t>
            </a:r>
          </a:p>
          <a:p>
            <a:r>
              <a:rPr sz="2000">
                <a:solidFill>
                  <a:srgbClr val="FFFFFF"/>
                </a:solidFill>
              </a:rPr>
              <a:t>Estimated Monthly Gap Value: $12,400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4 Revenue Conversations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[DIAGRAM: Buy | Resume | Upsell | Renew]</a:t>
            </a:r>
          </a:p>
          <a:p>
            <a:r>
              <a:rPr sz="2000">
                <a:solidFill>
                  <a:srgbClr val="FFFFFF"/>
                </a:solidFill>
              </a:rPr>
              <a:t>One dataset drives all revenue</a:t>
            </a:r>
          </a:p>
          <a:p>
            <a:r>
              <a:rPr sz="2000">
                <a:solidFill>
                  <a:srgbClr val="FFFFFF"/>
                </a:solidFill>
              </a:rPr>
              <a:t>Different conversations, same intelligence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The Intelligence Flywheel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[DIAGRAM: 8-stage flywheel]</a:t>
            </a:r>
          </a:p>
          <a:p>
            <a:r>
              <a:rPr sz="2000">
                <a:solidFill>
                  <a:srgbClr val="FFFFFF"/>
                </a:solidFill>
              </a:rPr>
              <a:t>Every action compounds intelligence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One Account. Two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WITHOUT Prophet:</a:t>
            </a:r>
          </a:p>
          <a:p>
            <a:r>
              <a:rPr sz="2000">
                <a:solidFill>
                  <a:srgbClr val="FFFFFF"/>
                </a:solidFill>
              </a:rPr>
              <a:t>Missed refund → no doctor contact → churn</a:t>
            </a:r>
          </a:p>
          <a:p>
            <a:r>
              <a:rPr sz="2000">
                <a:solidFill>
                  <a:srgbClr val="FFFFFF"/>
                </a:solidFill>
              </a:rPr>
              <a:t>WITH Prophet:</a:t>
            </a:r>
          </a:p>
          <a:p>
            <a:r>
              <a:rPr sz="2000">
                <a:solidFill>
                  <a:srgbClr val="FFFFFF"/>
                </a:solidFill>
              </a:rPr>
              <a:t>Refund flagged → save play → retained</a:t>
            </a:r>
          </a:p>
          <a:p>
            <a:r>
              <a:rPr sz="2000">
                <a:solidFill>
                  <a:srgbClr val="FFFFFF"/>
                </a:solidFill>
              </a:rPr>
              <a:t>Saved: $18,447 MRR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The Competitive 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Proprietary dataset</a:t>
            </a:r>
          </a:p>
          <a:p>
            <a:r>
              <a:rPr sz="2000">
                <a:solidFill>
                  <a:srgbClr val="FFFFFF"/>
                </a:solidFill>
              </a:rPr>
              <a:t>Every interaction compounds intelligence</a:t>
            </a:r>
          </a:p>
          <a:p>
            <a:r>
              <a:rPr sz="2000">
                <a:solidFill>
                  <a:srgbClr val="FFFFFF"/>
                </a:solidFill>
              </a:rPr>
              <a:t>No competitor can replicate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The ROI Is Simple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Save 5 accounts/quarter = $480K+</a:t>
            </a:r>
          </a:p>
          <a:p>
            <a:r>
              <a:rPr sz="2000">
                <a:solidFill>
                  <a:srgbClr val="FFFFFF"/>
                </a:solidFill>
              </a:rPr>
              <a:t>1 Platinum account = $240K+</a:t>
            </a:r>
          </a:p>
          <a:p>
            <a:r>
              <a:rPr sz="2000">
                <a:solidFill>
                  <a:srgbClr val="FFFFFF"/>
                </a:solidFill>
              </a:rPr>
              <a:t>Prophet prevents churn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Your New Daily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Monday → Synopsis</a:t>
            </a:r>
          </a:p>
          <a:p>
            <a:r>
              <a:rPr sz="2000">
                <a:solidFill>
                  <a:srgbClr val="FFFFFF"/>
                </a:solidFill>
              </a:rPr>
              <a:t>Before calls → Brief</a:t>
            </a:r>
          </a:p>
          <a:p>
            <a:r>
              <a:rPr sz="2000">
                <a:solidFill>
                  <a:srgbClr val="FFFFFF"/>
                </a:solidFill>
              </a:rPr>
              <a:t>Weekly → Risk review</a:t>
            </a:r>
          </a:p>
          <a:p>
            <a:r>
              <a:rPr sz="2000">
                <a:solidFill>
                  <a:srgbClr val="FFFFFF"/>
                </a:solidFill>
              </a:rPr>
              <a:t>[VISUAL: timeline]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What This Means for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AMs → always prepared</a:t>
            </a:r>
          </a:p>
          <a:p>
            <a:r>
              <a:rPr sz="2000">
                <a:solidFill>
                  <a:srgbClr val="FFFFFF"/>
                </a:solidFill>
              </a:rPr>
              <a:t>PGA → know more than prospect</a:t>
            </a:r>
          </a:p>
          <a:p>
            <a:r>
              <a:rPr sz="2000">
                <a:solidFill>
                  <a:srgbClr val="FFFFFF"/>
                </a:solidFill>
              </a:rPr>
              <a:t>Leadership → see risk early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This Is How We Operate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Used before every call</a:t>
            </a:r>
          </a:p>
          <a:p>
            <a:r>
              <a:rPr sz="2000">
                <a:solidFill>
                  <a:srgbClr val="FFFFFF"/>
                </a:solidFill>
              </a:rPr>
              <a:t>Used every Monday</a:t>
            </a:r>
          </a:p>
          <a:p>
            <a:r>
              <a:rPr sz="2000">
                <a:solidFill>
                  <a:srgbClr val="FFFFFF"/>
                </a:solidFill>
              </a:rPr>
              <a:t>New standard of execution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Agentforce integration</a:t>
            </a:r>
          </a:p>
          <a:p>
            <a:r>
              <a:rPr sz="2000">
                <a:solidFill>
                  <a:srgbClr val="FFFFFF"/>
                </a:solidFill>
              </a:rPr>
              <a:t>n8n automation</a:t>
            </a:r>
          </a:p>
          <a:p>
            <a:r>
              <a:rPr sz="2000">
                <a:solidFill>
                  <a:srgbClr val="FFFFFF"/>
                </a:solidFill>
              </a:rPr>
              <a:t>PowerBI dashboards</a:t>
            </a:r>
          </a:p>
          <a:p>
            <a:r>
              <a:rPr sz="2000">
                <a:solidFill>
                  <a:srgbClr val="FFFFFF"/>
                </a:solidFill>
              </a:rPr>
              <a:t>[TIMELINE]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Open Claude</a:t>
            </a:r>
          </a:p>
          <a:p>
            <a:r>
              <a:rPr sz="2000">
                <a:solidFill>
                  <a:srgbClr val="FFFFFF"/>
                </a:solidFill>
              </a:rPr>
              <a:t>'Show me my week'</a:t>
            </a:r>
          </a:p>
          <a:p>
            <a:r>
              <a:rPr sz="2000">
                <a:solidFill>
                  <a:srgbClr val="FFFFFF"/>
                </a:solidFill>
              </a:rPr>
              <a:t>'Brief me on [account]'</a:t>
            </a:r>
          </a:p>
          <a:p>
            <a:r>
              <a:rPr sz="2000">
                <a:solidFill>
                  <a:srgbClr val="FFFFFF"/>
                </a:solidFill>
              </a:rPr>
              <a:t>'Show me churn risk'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See What's Coming Before It Arrives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Clarity</a:t>
            </a:r>
          </a:p>
          <a:p>
            <a:r>
              <a:rPr sz="2000">
                <a:solidFill>
                  <a:srgbClr val="FFFFFF"/>
                </a:solidFill>
              </a:rPr>
              <a:t>Confidence</a:t>
            </a:r>
          </a:p>
          <a:p>
            <a:r>
              <a:rPr sz="2000">
                <a:solidFill>
                  <a:srgbClr val="FFFFFF"/>
                </a:solidFill>
              </a:rPr>
              <a:t>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