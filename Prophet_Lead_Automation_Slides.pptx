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35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00D9A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00D9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22</a:t>
            </a:r>
            <a:endParaRPr lang="en-US" sz="9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45720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19456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LEAD AUTOMATION</a:t>
            </a:r>
            <a:endParaRPr lang="en-US" sz="4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640080" y="3931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150 metros. Discover new prospects. Enrich with AI. Write to Salesforce automatically.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B35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9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WORKS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143000" cy="640080"/>
          </a:xfrm>
          <a:prstGeom prst="rect">
            <a:avLst/>
          </a:prstGeom>
          <a:solidFill>
            <a:srgbClr val="00D9A6"/>
          </a:solidFill>
          <a:ln w="12700">
            <a:solidFill>
              <a:srgbClr val="3A55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Google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600200" y="1051560"/>
            <a:ext cx="201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9A6"/>
                </a:solidFill>
              </a:rPr>
              <a:t>→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801368" y="1051560"/>
            <a:ext cx="1143000" cy="640080"/>
          </a:xfrm>
          <a:prstGeom prst="rect">
            <a:avLst/>
          </a:prstGeom>
          <a:solidFill>
            <a:srgbClr val="2F4050"/>
          </a:solidFill>
          <a:ln w="12700">
            <a:solidFill>
              <a:srgbClr val="3A55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01368" y="105156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 vs.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944368" y="1051560"/>
            <a:ext cx="201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9A6"/>
                </a:solidFill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145536" y="1051560"/>
            <a:ext cx="1143000" cy="640080"/>
          </a:xfrm>
          <a:prstGeom prst="rect">
            <a:avLst/>
          </a:prstGeom>
          <a:solidFill>
            <a:srgbClr val="2F4050"/>
          </a:solidFill>
          <a:ln w="12700">
            <a:solidFill>
              <a:srgbClr val="3A55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45536" y="105156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Firecrawl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88536" y="1051560"/>
            <a:ext cx="201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9A6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489704" y="1051560"/>
            <a:ext cx="1143000" cy="640080"/>
          </a:xfrm>
          <a:prstGeom prst="rect">
            <a:avLst/>
          </a:prstGeom>
          <a:solidFill>
            <a:srgbClr val="2F4050"/>
          </a:solidFill>
          <a:ln w="12700">
            <a:solidFill>
              <a:srgbClr val="3A55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9704" y="105156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32704" y="1051560"/>
            <a:ext cx="201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9A6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833872" y="1051560"/>
            <a:ext cx="1143000" cy="640080"/>
          </a:xfrm>
          <a:prstGeom prst="rect">
            <a:avLst/>
          </a:prstGeom>
          <a:solidFill>
            <a:srgbClr val="2F4050"/>
          </a:solidFill>
          <a:ln w="12700">
            <a:solidFill>
              <a:srgbClr val="3A556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33872" y="105156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976872" y="1051560"/>
            <a:ext cx="201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9A6"/>
                </a:solidFill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178040" y="1051560"/>
            <a:ext cx="1143000" cy="640080"/>
          </a:xfrm>
          <a:prstGeom prst="rect">
            <a:avLst/>
          </a:prstGeom>
          <a:solidFill>
            <a:srgbClr val="00D9A6"/>
          </a:solidFill>
          <a:ln w="12700">
            <a:solidFill>
              <a:srgbClr val="3A556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78040" y="105156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Write-back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1965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9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QUERIES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2331720"/>
            <a:ext cx="3840480" cy="329184"/>
          </a:xfrm>
          <a:prstGeom prst="rect">
            <a:avLst/>
          </a:prstGeom>
          <a:solidFill>
            <a:srgbClr val="2F4050"/>
          </a:solidFill>
          <a:ln w="12700">
            <a:solidFill>
              <a:srgbClr val="3A556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233172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dental implant marketing + [city]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2715768"/>
            <a:ext cx="3840480" cy="329184"/>
          </a:xfrm>
          <a:prstGeom prst="rect">
            <a:avLst/>
          </a:prstGeom>
          <a:solidFill>
            <a:srgbClr val="2F4050"/>
          </a:solidFill>
          <a:ln w="12700">
            <a:solidFill>
              <a:srgbClr val="3A556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271576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arch dental advertising + [city]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099816"/>
            <a:ext cx="3840480" cy="329184"/>
          </a:xfrm>
          <a:prstGeom prst="rect">
            <a:avLst/>
          </a:prstGeom>
          <a:solidFill>
            <a:srgbClr val="2F4050"/>
          </a:solidFill>
          <a:ln w="12700">
            <a:solidFill>
              <a:srgbClr val="3A556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309981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dental implant PPC agency + [city]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483864"/>
            <a:ext cx="3840480" cy="329184"/>
          </a:xfrm>
          <a:prstGeom prst="rect">
            <a:avLst/>
          </a:prstGeom>
          <a:solidFill>
            <a:srgbClr val="2F4050"/>
          </a:solidFill>
          <a:ln w="12700">
            <a:solidFill>
              <a:srgbClr val="3A556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348386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dental practice SEO company + [city]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867912"/>
            <a:ext cx="3840480" cy="329184"/>
          </a:xfrm>
          <a:prstGeom prst="rect">
            <a:avLst/>
          </a:prstGeom>
          <a:solidFill>
            <a:srgbClr val="2F4050"/>
          </a:solidFill>
          <a:ln w="12700">
            <a:solidFill>
              <a:srgbClr val="3A556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386791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dental implant lead generation + [city]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4251960"/>
            <a:ext cx="3840480" cy="329184"/>
          </a:xfrm>
          <a:prstGeom prst="rect">
            <a:avLst/>
          </a:prstGeom>
          <a:solidFill>
            <a:srgbClr val="2F4050"/>
          </a:solidFill>
          <a:ln w="12700">
            <a:solidFill>
              <a:srgbClr val="3A556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425196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All-on-4 marketing + [city]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54880" y="19659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9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FIELDS WRITTEN TO SALESFORCE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754880" y="2331720"/>
            <a:ext cx="1874520" cy="329184"/>
          </a:xfrm>
          <a:prstGeom prst="rect">
            <a:avLst/>
          </a:prstGeom>
          <a:solidFill>
            <a:srgbClr val="2F4050"/>
          </a:solidFill>
          <a:ln w="12700">
            <a:solidFill>
              <a:srgbClr val="3A556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233172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Doctor_Name__c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766560" y="2331720"/>
            <a:ext cx="1874520" cy="329184"/>
          </a:xfrm>
          <a:prstGeom prst="rect">
            <a:avLst/>
          </a:prstGeom>
          <a:solidFill>
            <a:srgbClr val="2F4050"/>
          </a:solidFill>
          <a:ln w="12700">
            <a:solidFill>
              <a:srgbClr val="3A556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0" y="233172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Point_of_Contact__c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54880" y="2715768"/>
            <a:ext cx="1874520" cy="329184"/>
          </a:xfrm>
          <a:prstGeom prst="rect">
            <a:avLst/>
          </a:prstGeom>
          <a:solidFill>
            <a:srgbClr val="2F4050"/>
          </a:solidFill>
          <a:ln w="12700">
            <a:solidFill>
              <a:srgbClr val="3A556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271576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Priority_Score__c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766560" y="2715768"/>
            <a:ext cx="1874520" cy="329184"/>
          </a:xfrm>
          <a:prstGeom prst="rect">
            <a:avLst/>
          </a:prstGeom>
          <a:solidFill>
            <a:srgbClr val="2F4050"/>
          </a:solidFill>
          <a:ln w="12700">
            <a:solidFill>
              <a:srgbClr val="3A556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0" y="271576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Ready_to_Buy_Score__c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54880" y="3099816"/>
            <a:ext cx="1874520" cy="329184"/>
          </a:xfrm>
          <a:prstGeom prst="rect">
            <a:avLst/>
          </a:prstGeom>
          <a:solidFill>
            <a:srgbClr val="2F4050"/>
          </a:solidFill>
          <a:ln w="12700">
            <a:solidFill>
              <a:srgbClr val="3A556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0" y="309981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Est_Marketing_Maturity__c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766560" y="3099816"/>
            <a:ext cx="1874520" cy="329184"/>
          </a:xfrm>
          <a:prstGeom prst="rect">
            <a:avLst/>
          </a:prstGeom>
          <a:solidFill>
            <a:srgbClr val="2F4050"/>
          </a:solidFill>
          <a:ln w="12700">
            <a:solidFill>
              <a:srgbClr val="3A556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58000" y="309981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Likely_Vendor__c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754880" y="3483864"/>
            <a:ext cx="1874520" cy="329184"/>
          </a:xfrm>
          <a:prstGeom prst="rect">
            <a:avLst/>
          </a:prstGeom>
          <a:solidFill>
            <a:srgbClr val="2F4050"/>
          </a:solidFill>
          <a:ln w="12700">
            <a:solidFill>
              <a:srgbClr val="3A556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46320" y="3483864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Service_Gaps__c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766560" y="3483864"/>
            <a:ext cx="1874520" cy="329184"/>
          </a:xfrm>
          <a:prstGeom prst="rect">
            <a:avLst/>
          </a:prstGeom>
          <a:solidFill>
            <a:srgbClr val="2F4050"/>
          </a:solidFill>
          <a:ln w="12700">
            <a:solidFill>
              <a:srgbClr val="3A556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58000" y="3483864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Best_Outreach_Angle__c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754880" y="3867912"/>
            <a:ext cx="1874520" cy="329184"/>
          </a:xfrm>
          <a:prstGeom prst="rect">
            <a:avLst/>
          </a:prstGeom>
          <a:solidFill>
            <a:srgbClr val="2F4050"/>
          </a:solidFill>
          <a:ln w="12700">
            <a:solidFill>
              <a:srgbClr val="3A556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46320" y="3867912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Best_Poach_Lever__c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766560" y="3867912"/>
            <a:ext cx="1874520" cy="329184"/>
          </a:xfrm>
          <a:prstGeom prst="rect">
            <a:avLst/>
          </a:prstGeom>
          <a:solidFill>
            <a:srgbClr val="2F4050"/>
          </a:solidFill>
          <a:ln w="12700">
            <a:solidFill>
              <a:srgbClr val="3A556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58000" y="3867912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PDM_Solution__c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754880" y="4251960"/>
            <a:ext cx="1874520" cy="329184"/>
          </a:xfrm>
          <a:prstGeom prst="rect">
            <a:avLst/>
          </a:prstGeom>
          <a:solidFill>
            <a:srgbClr val="2F4050"/>
          </a:solidFill>
          <a:ln w="12700">
            <a:solidFill>
              <a:srgbClr val="3A556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46320" y="425196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Scan_Tier__c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766560" y="4251960"/>
            <a:ext cx="1874520" cy="329184"/>
          </a:xfrm>
          <a:prstGeom prst="rect">
            <a:avLst/>
          </a:prstGeom>
          <a:solidFill>
            <a:srgbClr val="2F4050"/>
          </a:solidFill>
          <a:ln w="12700">
            <a:solidFill>
              <a:srgbClr val="3A556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858000" y="425196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POC_Role__c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457200" y="47091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USES IT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1828800" y="4709160"/>
            <a:ext cx="1371600" cy="320040"/>
          </a:xfrm>
          <a:prstGeom prst="rect">
            <a:avLst/>
          </a:prstGeom>
          <a:solidFill>
            <a:srgbClr val="2F4050"/>
          </a:solidFill>
          <a:ln w="12700">
            <a:solidFill>
              <a:srgbClr val="00D9A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828800" y="4709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Reps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3383280" y="4709160"/>
            <a:ext cx="1371600" cy="320040"/>
          </a:xfrm>
          <a:prstGeom prst="rect">
            <a:avLst/>
          </a:prstGeom>
          <a:solidFill>
            <a:srgbClr val="2F4050"/>
          </a:solidFill>
          <a:ln w="12700">
            <a:solidFill>
              <a:srgbClr val="00D9A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383280" y="4709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Leadership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937760" y="4709160"/>
            <a:ext cx="1371600" cy="320040"/>
          </a:xfrm>
          <a:prstGeom prst="rect">
            <a:avLst/>
          </a:prstGeom>
          <a:solidFill>
            <a:srgbClr val="2F4050"/>
          </a:solidFill>
          <a:ln w="12700">
            <a:solidFill>
              <a:srgbClr val="00D9A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937760" y="4709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B35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9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QUALITY GATES &amp; MARKET TIERS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9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FILTERS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0" cy="566928"/>
          </a:xfrm>
          <a:prstGeom prst="rect">
            <a:avLst/>
          </a:prstGeom>
          <a:solidFill>
            <a:srgbClr val="2F4050"/>
          </a:solidFill>
          <a:ln w="12700">
            <a:solidFill>
              <a:srgbClr val="3A556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81328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Ready-to-Buy Score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51560" y="166420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70 to pass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965960"/>
            <a:ext cx="4114800" cy="566928"/>
          </a:xfrm>
          <a:prstGeom prst="rect">
            <a:avLst/>
          </a:prstGeom>
          <a:solidFill>
            <a:srgbClr val="2F4050"/>
          </a:solidFill>
          <a:ln w="12700">
            <a:solidFill>
              <a:srgbClr val="3A5568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075688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51560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 Gate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051560" y="225856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existing Lead, Account, or Member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57200" y="2560320"/>
            <a:ext cx="4114800" cy="566928"/>
          </a:xfrm>
          <a:prstGeom prst="rect">
            <a:avLst/>
          </a:prstGeom>
          <a:solidFill>
            <a:srgbClr val="2F4050"/>
          </a:solidFill>
          <a:ln w="12700">
            <a:solidFill>
              <a:srgbClr val="3A5568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670048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51560" y="2606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Write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1051560" y="285292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custom fields per Lead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57200" y="3154680"/>
            <a:ext cx="4114800" cy="566928"/>
          </a:xfrm>
          <a:prstGeom prst="rect">
            <a:avLst/>
          </a:prstGeom>
          <a:solidFill>
            <a:srgbClr val="2F4050"/>
          </a:solidFill>
          <a:ln w="12700">
            <a:solidFill>
              <a:srgbClr val="3A5568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264408"/>
            <a:ext cx="347472" cy="347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51560" y="3200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Validation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1051560" y="344728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Rejects AI-generated 'Unknown'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4846320" y="9601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9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5-TIER MARKET SYSTEM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4846320" y="1371600"/>
            <a:ext cx="777240" cy="438912"/>
          </a:xfrm>
          <a:prstGeom prst="rect">
            <a:avLst/>
          </a:prstGeom>
          <a:solidFill>
            <a:srgbClr val="48BB78"/>
          </a:solidFill>
          <a:ln/>
        </p:spPr>
      </p:sp>
      <p:sp>
        <p:nvSpPr>
          <p:cNvPr id="22" name="Text 16"/>
          <p:cNvSpPr/>
          <p:nvPr/>
        </p:nvSpPr>
        <p:spPr>
          <a:xfrm>
            <a:off x="4846320" y="1371600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5715000" y="1371600"/>
            <a:ext cx="2971800" cy="438912"/>
          </a:xfrm>
          <a:prstGeom prst="rect">
            <a:avLst/>
          </a:prstGeom>
          <a:solidFill>
            <a:srgbClr val="2F4050"/>
          </a:solidFill>
          <a:ln w="12700">
            <a:solidFill>
              <a:srgbClr val="3A5568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5806440" y="137160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15 metros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7223760" y="137160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NYC, LA, Chicago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4846320" y="1847088"/>
            <a:ext cx="777240" cy="438912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27" name="Text 21"/>
          <p:cNvSpPr/>
          <p:nvPr/>
        </p:nvSpPr>
        <p:spPr>
          <a:xfrm>
            <a:off x="4846320" y="1847088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5715000" y="1847088"/>
            <a:ext cx="2971800" cy="438912"/>
          </a:xfrm>
          <a:prstGeom prst="rect">
            <a:avLst/>
          </a:prstGeom>
          <a:solidFill>
            <a:srgbClr val="2F4050"/>
          </a:solidFill>
          <a:ln w="12700">
            <a:solidFill>
              <a:srgbClr val="3A5568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5806440" y="1847088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Mid-size growth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7223760" y="184708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Knoxville, Boise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4846320" y="2322576"/>
            <a:ext cx="777240" cy="438912"/>
          </a:xfrm>
          <a:prstGeom prst="rect">
            <a:avLst/>
          </a:prstGeom>
          <a:solidFill>
            <a:srgbClr val="9F7AEA"/>
          </a:solidFill>
          <a:ln/>
        </p:spPr>
      </p:sp>
      <p:sp>
        <p:nvSpPr>
          <p:cNvPr id="32" name="Text 26"/>
          <p:cNvSpPr/>
          <p:nvPr/>
        </p:nvSpPr>
        <p:spPr>
          <a:xfrm>
            <a:off x="4846320" y="2322576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5715000" y="2322576"/>
            <a:ext cx="2971800" cy="438912"/>
          </a:xfrm>
          <a:prstGeom prst="rect">
            <a:avLst/>
          </a:prstGeom>
          <a:solidFill>
            <a:srgbClr val="2F4050"/>
          </a:solidFill>
          <a:ln w="12700">
            <a:solidFill>
              <a:srgbClr val="3A5568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5806440" y="2322576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hubs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7223760" y="232257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Chattanooga, Sarasota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4846320" y="2798064"/>
            <a:ext cx="777240" cy="438912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37" name="Text 31"/>
          <p:cNvSpPr/>
          <p:nvPr/>
        </p:nvSpPr>
        <p:spPr>
          <a:xfrm>
            <a:off x="4846320" y="2798064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4</a:t>
            </a:r>
            <a:endParaRPr lang="en-US" sz="1000" dirty="0"/>
          </a:p>
        </p:txBody>
      </p:sp>
      <p:sp>
        <p:nvSpPr>
          <p:cNvPr id="38" name="Shape 32"/>
          <p:cNvSpPr/>
          <p:nvPr/>
        </p:nvSpPr>
        <p:spPr>
          <a:xfrm>
            <a:off x="5715000" y="2798064"/>
            <a:ext cx="2971800" cy="438912"/>
          </a:xfrm>
          <a:prstGeom prst="rect">
            <a:avLst/>
          </a:prstGeom>
          <a:solidFill>
            <a:srgbClr val="2F4050"/>
          </a:solidFill>
          <a:ln w="12700">
            <a:solidFill>
              <a:srgbClr val="3A5568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5806440" y="2798064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Affluent suburbs</a:t>
            </a:r>
            <a:endParaRPr lang="en-US" sz="1100" dirty="0"/>
          </a:p>
        </p:txBody>
      </p:sp>
      <p:sp>
        <p:nvSpPr>
          <p:cNvPr id="40" name="Text 34"/>
          <p:cNvSpPr/>
          <p:nvPr/>
        </p:nvSpPr>
        <p:spPr>
          <a:xfrm>
            <a:off x="7223760" y="279806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Scottsdale, Naples</a:t>
            </a:r>
            <a:endParaRPr lang="en-US" sz="900" dirty="0"/>
          </a:p>
        </p:txBody>
      </p:sp>
      <p:sp>
        <p:nvSpPr>
          <p:cNvPr id="41" name="Shape 35"/>
          <p:cNvSpPr/>
          <p:nvPr/>
        </p:nvSpPr>
        <p:spPr>
          <a:xfrm>
            <a:off x="4846320" y="3273552"/>
            <a:ext cx="777240" cy="438912"/>
          </a:xfrm>
          <a:prstGeom prst="rect">
            <a:avLst/>
          </a:prstGeom>
          <a:solidFill>
            <a:srgbClr val="FC8181"/>
          </a:solidFill>
          <a:ln/>
        </p:spPr>
      </p:sp>
      <p:sp>
        <p:nvSpPr>
          <p:cNvPr id="42" name="Text 36"/>
          <p:cNvSpPr/>
          <p:nvPr/>
        </p:nvSpPr>
        <p:spPr>
          <a:xfrm>
            <a:off x="4846320" y="3273552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5</a:t>
            </a:r>
            <a:endParaRPr lang="en-US" sz="1000" dirty="0"/>
          </a:p>
        </p:txBody>
      </p:sp>
      <p:sp>
        <p:nvSpPr>
          <p:cNvPr id="43" name="Shape 37"/>
          <p:cNvSpPr/>
          <p:nvPr/>
        </p:nvSpPr>
        <p:spPr>
          <a:xfrm>
            <a:off x="5715000" y="3273552"/>
            <a:ext cx="2971800" cy="438912"/>
          </a:xfrm>
          <a:prstGeom prst="rect">
            <a:avLst/>
          </a:prstGeom>
          <a:solidFill>
            <a:srgbClr val="2F4050"/>
          </a:solidFill>
          <a:ln w="12700">
            <a:solidFill>
              <a:srgbClr val="3A5568"/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5806440" y="3273552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Specialty niches</a:t>
            </a:r>
            <a:endParaRPr lang="en-US" sz="1100" dirty="0"/>
          </a:p>
        </p:txBody>
      </p:sp>
      <p:sp>
        <p:nvSpPr>
          <p:cNvPr id="45" name="Text 39"/>
          <p:cNvSpPr/>
          <p:nvPr/>
        </p:nvSpPr>
        <p:spPr>
          <a:xfrm>
            <a:off x="7223760" y="327355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towns, military</a:t>
            </a:r>
            <a:endParaRPr lang="en-US" sz="900" dirty="0"/>
          </a:p>
        </p:txBody>
      </p:sp>
      <p:sp>
        <p:nvSpPr>
          <p:cNvPr id="46" name="Shape 40"/>
          <p:cNvSpPr/>
          <p:nvPr/>
        </p:nvSpPr>
        <p:spPr>
          <a:xfrm>
            <a:off x="457200" y="3840480"/>
            <a:ext cx="8229600" cy="685800"/>
          </a:xfrm>
          <a:prstGeom prst="rect">
            <a:avLst/>
          </a:prstGeom>
          <a:solidFill>
            <a:srgbClr val="1A2F3A"/>
          </a:solidFill>
          <a:ln w="25400">
            <a:solidFill>
              <a:srgbClr val="E8A838"/>
            </a:solidFill>
            <a:prstDash val="solid"/>
          </a:ln>
        </p:spPr>
      </p:sp>
      <p:sp>
        <p:nvSpPr>
          <p:cNvPr id="47" name="Text 41"/>
          <p:cNvSpPr/>
          <p:nvPr/>
        </p:nvSpPr>
        <p:spPr>
          <a:xfrm>
            <a:off x="640080" y="385876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IMPACT:  </a:t>
            </a:r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metro areas scanned automatically. RTB ≥ 70 filter ensures only high-quality leads enter the pipeline. Every lead arrives with AI-enriched intelligence, service gaps identified, and a recommended PDM solution — before a rep ever makes a call.</a:t>
            </a:r>
            <a:endParaRPr lang="en-US" sz="1200" dirty="0"/>
          </a:p>
        </p:txBody>
      </p:sp>
      <p:sp>
        <p:nvSpPr>
          <p:cNvPr id="48" name="Text 42"/>
          <p:cNvSpPr/>
          <p:nvPr/>
        </p:nvSpPr>
        <p:spPr>
          <a:xfrm>
            <a:off x="457200" y="47091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USES IT</a:t>
            </a:r>
            <a:endParaRPr lang="en-US" sz="1100" dirty="0"/>
          </a:p>
        </p:txBody>
      </p:sp>
      <p:sp>
        <p:nvSpPr>
          <p:cNvPr id="49" name="Shape 43"/>
          <p:cNvSpPr/>
          <p:nvPr/>
        </p:nvSpPr>
        <p:spPr>
          <a:xfrm>
            <a:off x="1828800" y="4709160"/>
            <a:ext cx="1371600" cy="320040"/>
          </a:xfrm>
          <a:prstGeom prst="rect">
            <a:avLst/>
          </a:prstGeom>
          <a:solidFill>
            <a:srgbClr val="2F4050"/>
          </a:solidFill>
          <a:ln w="12700">
            <a:solidFill>
              <a:srgbClr val="00D9A6"/>
            </a:solidFill>
            <a:prstDash val="solid"/>
          </a:ln>
        </p:spPr>
      </p:sp>
      <p:sp>
        <p:nvSpPr>
          <p:cNvPr id="50" name="Text 44"/>
          <p:cNvSpPr/>
          <p:nvPr/>
        </p:nvSpPr>
        <p:spPr>
          <a:xfrm>
            <a:off x="1828800" y="4709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Reps</a:t>
            </a:r>
            <a:endParaRPr lang="en-US" sz="1000" dirty="0"/>
          </a:p>
        </p:txBody>
      </p:sp>
      <p:sp>
        <p:nvSpPr>
          <p:cNvPr id="51" name="Shape 45"/>
          <p:cNvSpPr/>
          <p:nvPr/>
        </p:nvSpPr>
        <p:spPr>
          <a:xfrm>
            <a:off x="3383280" y="4709160"/>
            <a:ext cx="1371600" cy="320040"/>
          </a:xfrm>
          <a:prstGeom prst="rect">
            <a:avLst/>
          </a:prstGeom>
          <a:solidFill>
            <a:srgbClr val="2F4050"/>
          </a:solidFill>
          <a:ln w="12700">
            <a:solidFill>
              <a:srgbClr val="00D9A6"/>
            </a:solidFill>
            <a:prstDash val="solid"/>
          </a:ln>
        </p:spPr>
      </p:sp>
      <p:sp>
        <p:nvSpPr>
          <p:cNvPr id="52" name="Text 46"/>
          <p:cNvSpPr/>
          <p:nvPr/>
        </p:nvSpPr>
        <p:spPr>
          <a:xfrm>
            <a:off x="3383280" y="4709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Leadership</a:t>
            </a:r>
            <a:endParaRPr lang="en-US" sz="1000" dirty="0"/>
          </a:p>
        </p:txBody>
      </p:sp>
      <p:sp>
        <p:nvSpPr>
          <p:cNvPr id="53" name="Shape 47"/>
          <p:cNvSpPr/>
          <p:nvPr/>
        </p:nvSpPr>
        <p:spPr>
          <a:xfrm>
            <a:off x="4937760" y="4709160"/>
            <a:ext cx="1371600" cy="320040"/>
          </a:xfrm>
          <a:prstGeom prst="rect">
            <a:avLst/>
          </a:prstGeom>
          <a:solidFill>
            <a:srgbClr val="2F4050"/>
          </a:solidFill>
          <a:ln w="12700">
            <a:solidFill>
              <a:srgbClr val="00D9A6"/>
            </a:solidFill>
            <a:prstDash val="solid"/>
          </a:ln>
        </p:spPr>
      </p:sp>
      <p:sp>
        <p:nvSpPr>
          <p:cNvPr id="54" name="Text 48"/>
          <p:cNvSpPr/>
          <p:nvPr/>
        </p:nvSpPr>
        <p:spPr>
          <a:xfrm>
            <a:off x="4937760" y="4709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Prophet — Lead Automation System</dc:title>
  <dc:subject>PptxGenJS Presentation</dc:subject>
  <dc:creator>William Summers</dc:creator>
  <cp:lastModifiedBy>William Summers</cp:lastModifiedBy>
  <cp:revision>1</cp:revision>
  <dcterms:created xsi:type="dcterms:W3CDTF">2026-04-09T17:23:57Z</dcterms:created>
  <dcterms:modified xsi:type="dcterms:W3CDTF">2026-04-09T17:23:57Z</dcterms:modified>
</cp:coreProperties>
</file>