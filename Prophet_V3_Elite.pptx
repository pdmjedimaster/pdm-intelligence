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Prophet by PDM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See What's Coming Before It Arrives</a:t>
            </a:r>
          </a:p>
          <a:p>
            <a:r>
              <a:rPr sz="2200">
                <a:solidFill>
                  <a:srgbClr val="FFFFFF"/>
                </a:solidFill>
              </a:rPr>
              <a:t>AI Intelligence for Every Client Conversation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You Are Managing Blind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50+ clients</a:t>
            </a:r>
          </a:p>
          <a:p>
            <a:r>
              <a:rPr sz="2200">
                <a:solidFill>
                  <a:srgbClr val="FFFFFF"/>
                </a:solidFill>
              </a:rPr>
              <a:t>Signals buried across systems</a:t>
            </a:r>
          </a:p>
          <a:p>
            <a:r>
              <a:rPr sz="2200">
                <a:solidFill>
                  <a:srgbClr val="FFFFFF"/>
                </a:solidFill>
              </a:rPr>
              <a:t>Churn happens before you see it</a:t>
            </a:r>
          </a:p>
          <a:p>
            <a:r>
              <a:rPr sz="2200">
                <a:solidFill>
                  <a:srgbClr val="FFFFFF"/>
                </a:solidFill>
              </a:rPr>
              <a:t>This is not a performance issue — it's a visibility issue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What That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2-year avg → 35.7% churn</a:t>
            </a:r>
          </a:p>
          <a:p>
            <a:r>
              <a:rPr sz="2200">
                <a:solidFill>
                  <a:srgbClr val="FFFFFF"/>
                </a:solidFill>
              </a:rPr>
              <a:t>8-year target → 12.5%</a:t>
            </a:r>
          </a:p>
          <a:p>
            <a:r>
              <a:rPr sz="2200">
                <a:solidFill>
                  <a:srgbClr val="FFFFFF"/>
                </a:solidFill>
              </a:rPr>
              <a:t>$4M+ revenue protected</a:t>
            </a:r>
          </a:p>
          <a:p>
            <a:r>
              <a:rPr sz="2200">
                <a:solidFill>
                  <a:srgbClr val="FFFFFF"/>
                </a:solidFill>
              </a:rPr>
              <a:t>Every missed signal = lost MRR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The Real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You can't act on what you can't see</a:t>
            </a:r>
          </a:p>
          <a:p>
            <a:r>
              <a:rPr sz="2200">
                <a:solidFill>
                  <a:srgbClr val="FFFFFF"/>
                </a:solidFill>
              </a:rPr>
              <a:t>Your team is operating blind</a:t>
            </a:r>
          </a:p>
          <a:p>
            <a:r>
              <a:rPr sz="2200">
                <a:solidFill>
                  <a:srgbClr val="FFFFFF"/>
                </a:solidFill>
              </a:rPr>
              <a:t>Prophet gives you real-time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What Is Prophet?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AI platform connected to Salesforce</a:t>
            </a:r>
          </a:p>
          <a:p>
            <a:r>
              <a:rPr sz="2200">
                <a:solidFill>
                  <a:srgbClr val="FFFFFF"/>
                </a:solidFill>
              </a:rPr>
              <a:t>Ask in plain English</a:t>
            </a:r>
          </a:p>
          <a:p>
            <a:r>
              <a:rPr sz="2200">
                <a:solidFill>
                  <a:srgbClr val="FFFFFF"/>
                </a:solidFill>
              </a:rPr>
              <a:t>Instant answers with full context</a:t>
            </a:r>
          </a:p>
          <a:p>
            <a:r>
              <a:rPr sz="2200">
                <a:solidFill>
                  <a:srgbClr val="FFFFFF"/>
                </a:solidFill>
              </a:rPr>
              <a:t>No reports. No digging. No guessing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User → Claude → Prophet → Salesforce</a:t>
            </a:r>
          </a:p>
          <a:p>
            <a:r>
              <a:rPr sz="2200">
                <a:solidFill>
                  <a:srgbClr val="FFFFFF"/>
                </a:solidFill>
              </a:rPr>
              <a:t>AI analyzes signals instantly</a:t>
            </a:r>
          </a:p>
          <a:p>
            <a:r>
              <a:rPr sz="2200">
                <a:solidFill>
                  <a:srgbClr val="FFFFFF"/>
                </a:solidFill>
              </a:rPr>
              <a:t>Returns prioritized intelligence</a:t>
            </a:r>
          </a:p>
          <a:p>
            <a:r>
              <a:rPr sz="2200">
                <a:solidFill>
                  <a:srgbClr val="FFFFFF"/>
                </a:solidFill>
              </a:rPr>
              <a:t>[VISUAL DIAGRAM HERE]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Before vs After Prophet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Before: 45 min prep per call</a:t>
            </a:r>
          </a:p>
          <a:p>
            <a:r>
              <a:rPr sz="2200">
                <a:solidFill>
                  <a:srgbClr val="FFFFFF"/>
                </a:solidFill>
              </a:rPr>
              <a:t>After: 30 sec intelligence</a:t>
            </a:r>
          </a:p>
          <a:p>
            <a:r>
              <a:rPr sz="2200">
                <a:solidFill>
                  <a:srgbClr val="FFFFFF"/>
                </a:solidFill>
              </a:rPr>
              <a:t>Before: reactive</a:t>
            </a:r>
          </a:p>
          <a:p>
            <a:r>
              <a:rPr sz="2200">
                <a:solidFill>
                  <a:srgbClr val="FFFFFF"/>
                </a:solidFill>
              </a:rPr>
              <a:t>After: proactive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18 Intelligence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6 categories</a:t>
            </a:r>
          </a:p>
          <a:p>
            <a:r>
              <a:rPr sz="2200">
                <a:solidFill>
                  <a:srgbClr val="FFFFFF"/>
                </a:solidFill>
              </a:rPr>
              <a:t>Account, Risk, Pipeline</a:t>
            </a:r>
          </a:p>
          <a:p>
            <a:r>
              <a:rPr sz="2200">
                <a:solidFill>
                  <a:srgbClr val="FFFFFF"/>
                </a:solidFill>
              </a:rPr>
              <a:t>Sales, Conversation, Competitive</a:t>
            </a:r>
          </a:p>
          <a:p>
            <a:r>
              <a:rPr sz="2200">
                <a:solidFill>
                  <a:srgbClr val="FFFFFF"/>
                </a:solidFill>
              </a:rPr>
              <a:t>[VISUAL MAP HERE]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The Competitive Intelligence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Every competitor signal → mapped to product</a:t>
            </a:r>
          </a:p>
          <a:p>
            <a:r>
              <a:rPr sz="2200">
                <a:solidFill>
                  <a:srgbClr val="FFFFFF"/>
                </a:solidFill>
              </a:rPr>
              <a:t>Creates revenue opportunities</a:t>
            </a:r>
          </a:p>
          <a:p>
            <a:r>
              <a:rPr sz="2200">
                <a:solidFill>
                  <a:srgbClr val="FFFFFF"/>
                </a:solidFill>
              </a:rPr>
              <a:t>Turns insights into action</a:t>
            </a:r>
          </a:p>
          <a:p>
            <a:r>
              <a:rPr sz="2200">
                <a:solidFill>
                  <a:srgbClr val="FFFFFF"/>
                </a:solidFill>
              </a:rPr>
              <a:t>[VISUAL GAP TABLE HERE]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Scenario: Pre-Call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'Brief me on this account'</a:t>
            </a:r>
          </a:p>
          <a:p>
            <a:r>
              <a:rPr sz="2200">
                <a:solidFill>
                  <a:srgbClr val="FFFFFF"/>
                </a:solidFill>
              </a:rPr>
              <a:t>Health risk detected</a:t>
            </a:r>
          </a:p>
          <a:p>
            <a:r>
              <a:rPr sz="2200">
                <a:solidFill>
                  <a:srgbClr val="FFFFFF"/>
                </a:solidFill>
              </a:rPr>
              <a:t>Refund flagged</a:t>
            </a:r>
          </a:p>
          <a:p>
            <a:r>
              <a:rPr sz="2200">
                <a:solidFill>
                  <a:srgbClr val="FFFFFF"/>
                </a:solidFill>
              </a:rPr>
              <a:t>Doctor gap identified</a:t>
            </a:r>
          </a:p>
          <a:p>
            <a:r>
              <a:rPr sz="2200">
                <a:solidFill>
                  <a:srgbClr val="FFFFFF"/>
                </a:solidFill>
              </a:rPr>
              <a:t>[MOCK UI HERE]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Scenario: Churn 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'Show me churn risk'</a:t>
            </a:r>
          </a:p>
          <a:p>
            <a:r>
              <a:rPr sz="2200">
                <a:solidFill>
                  <a:srgbClr val="FFFFFF"/>
                </a:solidFill>
              </a:rPr>
              <a:t>Revenue at risk surfaced</a:t>
            </a:r>
          </a:p>
          <a:p>
            <a:r>
              <a:rPr sz="2200">
                <a:solidFill>
                  <a:srgbClr val="FFFFFF"/>
                </a:solidFill>
              </a:rPr>
              <a:t>Action prioritized</a:t>
            </a:r>
          </a:p>
          <a:p>
            <a:r>
              <a:rPr sz="2200">
                <a:solidFill>
                  <a:srgbClr val="FFFFFF"/>
                </a:solidFill>
              </a:rPr>
              <a:t>[MOCK UI HERE]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Scenario: Prospect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'Research this practice'</a:t>
            </a:r>
          </a:p>
          <a:p>
            <a:r>
              <a:rPr sz="2200">
                <a:solidFill>
                  <a:srgbClr val="FFFFFF"/>
                </a:solidFill>
              </a:rPr>
              <a:t>Market + competitor analysis</a:t>
            </a:r>
          </a:p>
          <a:p>
            <a:r>
              <a:rPr sz="2200">
                <a:solidFill>
                  <a:srgbClr val="FFFFFF"/>
                </a:solidFill>
              </a:rPr>
              <a:t>Deck auto-generated</a:t>
            </a:r>
          </a:p>
          <a:p>
            <a:r>
              <a:rPr sz="2200">
                <a:solidFill>
                  <a:srgbClr val="FFFFFF"/>
                </a:solidFill>
              </a:rPr>
              <a:t>[MOCK UI HERE]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The Intelligence Flywheel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Research → Close → Serve → Monitor</a:t>
            </a:r>
          </a:p>
          <a:p>
            <a:r>
              <a:rPr sz="2200">
                <a:solidFill>
                  <a:srgbClr val="FFFFFF"/>
                </a:solidFill>
              </a:rPr>
              <a:t>Alert → Renew → Grow → Learn</a:t>
            </a:r>
          </a:p>
          <a:p>
            <a:r>
              <a:rPr sz="2200">
                <a:solidFill>
                  <a:srgbClr val="FFFFFF"/>
                </a:solidFill>
              </a:rPr>
              <a:t>Every action compounds</a:t>
            </a:r>
          </a:p>
          <a:p>
            <a:r>
              <a:rPr sz="2200">
                <a:solidFill>
                  <a:srgbClr val="FFFFFF"/>
                </a:solidFill>
              </a:rPr>
              <a:t>[VISUAL FLYWHEEL HERE]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4 Revenue Conversations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BUY, RESUME, UPSELL, RENEW</a:t>
            </a:r>
          </a:p>
          <a:p>
            <a:r>
              <a:rPr sz="2200">
                <a:solidFill>
                  <a:srgbClr val="FFFFFF"/>
                </a:solidFill>
              </a:rPr>
              <a:t>One dataset powers all</a:t>
            </a:r>
          </a:p>
          <a:p>
            <a:r>
              <a:rPr sz="2200">
                <a:solidFill>
                  <a:srgbClr val="FFFFFF"/>
                </a:solidFill>
              </a:rPr>
              <a:t>[VISUAL QUADRANT HERE]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One Account. Two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WITHOUT Prophet → churn</a:t>
            </a:r>
          </a:p>
          <a:p>
            <a:r>
              <a:rPr sz="2200">
                <a:solidFill>
                  <a:srgbClr val="FFFFFF"/>
                </a:solidFill>
              </a:rPr>
              <a:t>WITH Prophet → retained</a:t>
            </a:r>
          </a:p>
          <a:p>
            <a:r>
              <a:rPr sz="2200">
                <a:solidFill>
                  <a:srgbClr val="FFFFFF"/>
                </a:solidFill>
              </a:rPr>
              <a:t>Difference: $18,447 MRR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The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Save 5 accounts = $480K+</a:t>
            </a:r>
          </a:p>
          <a:p>
            <a:r>
              <a:rPr sz="2200">
                <a:solidFill>
                  <a:srgbClr val="FFFFFF"/>
                </a:solidFill>
              </a:rPr>
              <a:t>1 Platinum account = $240K+</a:t>
            </a:r>
          </a:p>
          <a:p>
            <a:r>
              <a:rPr sz="2200">
                <a:solidFill>
                  <a:srgbClr val="FFFFFF"/>
                </a:solidFill>
              </a:rPr>
              <a:t>Prophet protects revenue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New Operating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Monday: Synopsis</a:t>
            </a:r>
          </a:p>
          <a:p>
            <a:r>
              <a:rPr sz="2200">
                <a:solidFill>
                  <a:srgbClr val="FFFFFF"/>
                </a:solidFill>
              </a:rPr>
              <a:t>Before calls: Brief</a:t>
            </a:r>
          </a:p>
          <a:p>
            <a:r>
              <a:rPr sz="2200">
                <a:solidFill>
                  <a:srgbClr val="FFFFFF"/>
                </a:solidFill>
              </a:rPr>
              <a:t>Weekly: Risk</a:t>
            </a:r>
          </a:p>
          <a:p>
            <a:r>
              <a:rPr sz="2200">
                <a:solidFill>
                  <a:srgbClr val="FFFFFF"/>
                </a:solidFill>
              </a:rPr>
              <a:t>Always: Log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This Is The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Used before every call</a:t>
            </a:r>
          </a:p>
          <a:p>
            <a:r>
              <a:rPr sz="2200">
                <a:solidFill>
                  <a:srgbClr val="FFFFFF"/>
                </a:solidFill>
              </a:rPr>
              <a:t>Used every Monday</a:t>
            </a:r>
          </a:p>
          <a:p>
            <a:r>
              <a:rPr sz="2200">
                <a:solidFill>
                  <a:srgbClr val="FFFFFF"/>
                </a:solidFill>
              </a:rPr>
              <a:t>Teams that use it win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Agentforce</a:t>
            </a:r>
          </a:p>
          <a:p>
            <a:r>
              <a:rPr sz="2200">
                <a:solidFill>
                  <a:srgbClr val="FFFFFF"/>
                </a:solidFill>
              </a:rPr>
              <a:t>Automation</a:t>
            </a:r>
          </a:p>
          <a:p>
            <a:r>
              <a:rPr sz="2200">
                <a:solidFill>
                  <a:srgbClr val="FFFFFF"/>
                </a:solidFill>
              </a:rPr>
              <a:t>Dashboards</a:t>
            </a:r>
          </a:p>
          <a:p>
            <a:r>
              <a:rPr sz="2200">
                <a:solidFill>
                  <a:srgbClr val="FFFFFF"/>
                </a:solidFill>
              </a:rPr>
              <a:t>[TIMELINE HERE]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FF"/>
                </a:solidFill>
              </a:rPr>
              <a:t>See What's Coming Before It Arrives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>
                <a:solidFill>
                  <a:srgbClr val="FFFFFF"/>
                </a:solidFill>
              </a:rPr>
              <a:t>Clarity</a:t>
            </a:r>
          </a:p>
          <a:p>
            <a:r>
              <a:rPr sz="2200">
                <a:solidFill>
                  <a:srgbClr val="FFFFFF"/>
                </a:solidFill>
              </a:rPr>
              <a:t>Confidence</a:t>
            </a:r>
          </a:p>
          <a:p>
            <a:r>
              <a:rPr sz="2200">
                <a:solidFill>
                  <a:srgbClr val="FFFFFF"/>
                </a:solidFill>
              </a:rPr>
              <a:t>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